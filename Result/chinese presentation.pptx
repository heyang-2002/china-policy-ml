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9"/>
    <p:restoredTop sz="94519"/>
  </p:normalViewPr>
  <p:slideViewPr>
    <p:cSldViewPr snapToGrid="0">
      <p:cViewPr varScale="1">
        <p:scale>
          <a:sx n="111" d="100"/>
          <a:sy n="111" d="100"/>
        </p:scale>
        <p:origin x="24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D177C3-29D6-4B3C-BA71-76AB9FE248E9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159359D-B940-4678-B93F-B84E67B9CC9B}">
      <dgm:prSet/>
      <dgm:spPr/>
      <dgm:t>
        <a:bodyPr/>
        <a:lstStyle/>
        <a:p>
          <a:r>
            <a:rPr kumimoji="1"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 policy implementation texts during the 14th Five-Year period exhibit measurable patterns of functional differentiation and instrument alignment?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F6743B-1DFD-486A-87B3-42FFBCD0BE87}" type="parTrans" cxnId="{DF1AD2D3-9A96-4945-B1C1-2B8E44B30E2D}">
      <dgm:prSet/>
      <dgm:spPr/>
      <dgm:t>
        <a:bodyPr/>
        <a:lstStyle/>
        <a:p>
          <a:endParaRPr lang="en-US"/>
        </a:p>
      </dgm:t>
    </dgm:pt>
    <dgm:pt modelId="{8F61586D-42A0-41D4-8BF8-2E531FFBEA7D}" type="sibTrans" cxnId="{DF1AD2D3-9A96-4945-B1C1-2B8E44B30E2D}">
      <dgm:prSet/>
      <dgm:spPr/>
      <dgm:t>
        <a:bodyPr/>
        <a:lstStyle/>
        <a:p>
          <a:endParaRPr lang="en-US"/>
        </a:p>
      </dgm:t>
    </dgm:pt>
    <dgm:pt modelId="{B49D1FB2-329B-438B-AA61-E1FC207C239F}">
      <dgm:prSet/>
      <dgm:spPr/>
      <dgm:t>
        <a:bodyPr/>
        <a:lstStyle/>
        <a:p>
          <a:r>
            <a:rPr kumimoji="1"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 policy domains show structured specialization</a:t>
          </a:r>
          <a:r>
            <a: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rPr>
            <a:t>in the text</a:t>
          </a:r>
          <a:r>
            <a:rPr kumimoji="1"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?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2543EB-76C5-4020-975E-05644B2E826D}" type="parTrans" cxnId="{3D495E39-DFB5-4AA7-A4A8-897734A5925C}">
      <dgm:prSet/>
      <dgm:spPr/>
      <dgm:t>
        <a:bodyPr/>
        <a:lstStyle/>
        <a:p>
          <a:endParaRPr lang="en-US"/>
        </a:p>
      </dgm:t>
    </dgm:pt>
    <dgm:pt modelId="{69BC8B54-026A-4F25-A304-4933EA3017DF}" type="sibTrans" cxnId="{3D495E39-DFB5-4AA7-A4A8-897734A5925C}">
      <dgm:prSet/>
      <dgm:spPr/>
      <dgm:t>
        <a:bodyPr/>
        <a:lstStyle/>
        <a:p>
          <a:endParaRPr lang="en-US"/>
        </a:p>
      </dgm:t>
    </dgm:pt>
    <dgm:pt modelId="{AB516C0B-18DC-46E4-9E79-EAE43096EE32}">
      <dgm:prSet/>
      <dgm:spPr/>
      <dgm:t>
        <a:bodyPr/>
        <a:lstStyle/>
        <a:p>
          <a:r>
            <a:rPr kumimoji="1"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Is there cross-domain re-embedding across administrative topics?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7D4365-E749-4CF5-A90D-B785FBC7EF76}" type="parTrans" cxnId="{6230036E-D744-449B-B8A0-EAF206DAEDDB}">
      <dgm:prSet/>
      <dgm:spPr/>
      <dgm:t>
        <a:bodyPr/>
        <a:lstStyle/>
        <a:p>
          <a:endParaRPr lang="en-US"/>
        </a:p>
      </dgm:t>
    </dgm:pt>
    <dgm:pt modelId="{8EF121BA-F0A3-4084-ABB0-96956C0A901C}" type="sibTrans" cxnId="{6230036E-D744-449B-B8A0-EAF206DAEDDB}">
      <dgm:prSet/>
      <dgm:spPr/>
      <dgm:t>
        <a:bodyPr/>
        <a:lstStyle/>
        <a:p>
          <a:endParaRPr lang="en-US"/>
        </a:p>
      </dgm:t>
    </dgm:pt>
    <dgm:pt modelId="{8451E550-97D4-4095-A4AD-A1F4B749C58A}">
      <dgm:prSet/>
      <dgm:spPr/>
      <dgm:t>
        <a:bodyPr/>
        <a:lstStyle/>
        <a:p>
          <a:r>
            <a:rPr kumimoji="1"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 different domains rely on distinct policy</a:t>
          </a:r>
          <a:r>
            <a: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rPr>
            <a:t>express</a:t>
          </a:r>
          <a:r>
            <a:rPr kumimoji="1"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?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65CE9-2098-4ACA-880C-519EC14054F7}" type="parTrans" cxnId="{58D8E01B-88C2-4027-93D1-CAEC16FC1AAB}">
      <dgm:prSet/>
      <dgm:spPr/>
      <dgm:t>
        <a:bodyPr/>
        <a:lstStyle/>
        <a:p>
          <a:endParaRPr lang="en-US"/>
        </a:p>
      </dgm:t>
    </dgm:pt>
    <dgm:pt modelId="{8041B208-C6EF-4B5C-BC16-7FDE288B7EEE}" type="sibTrans" cxnId="{58D8E01B-88C2-4027-93D1-CAEC16FC1AAB}">
      <dgm:prSet/>
      <dgm:spPr/>
      <dgm:t>
        <a:bodyPr/>
        <a:lstStyle/>
        <a:p>
          <a:endParaRPr lang="en-US"/>
        </a:p>
      </dgm:t>
    </dgm:pt>
    <dgm:pt modelId="{62F4C735-F666-4649-9578-F8D48ABCF9A7}" type="pres">
      <dgm:prSet presAssocID="{A0D177C3-29D6-4B3C-BA71-76AB9FE248E9}" presName="outerComposite" presStyleCnt="0">
        <dgm:presLayoutVars>
          <dgm:chMax val="5"/>
          <dgm:dir/>
          <dgm:resizeHandles val="exact"/>
        </dgm:presLayoutVars>
      </dgm:prSet>
      <dgm:spPr/>
    </dgm:pt>
    <dgm:pt modelId="{0039A135-FFE7-3148-8AC5-4E60D379C886}" type="pres">
      <dgm:prSet presAssocID="{A0D177C3-29D6-4B3C-BA71-76AB9FE248E9}" presName="dummyMaxCanvas" presStyleCnt="0">
        <dgm:presLayoutVars/>
      </dgm:prSet>
      <dgm:spPr/>
    </dgm:pt>
    <dgm:pt modelId="{2B86C02B-0FEE-9F42-933C-516E1243E923}" type="pres">
      <dgm:prSet presAssocID="{A0D177C3-29D6-4B3C-BA71-76AB9FE248E9}" presName="FourNodes_1" presStyleLbl="node1" presStyleIdx="0" presStyleCnt="4">
        <dgm:presLayoutVars>
          <dgm:bulletEnabled val="1"/>
        </dgm:presLayoutVars>
      </dgm:prSet>
      <dgm:spPr/>
    </dgm:pt>
    <dgm:pt modelId="{D433479A-3181-084D-8179-DC0D1C9CAED3}" type="pres">
      <dgm:prSet presAssocID="{A0D177C3-29D6-4B3C-BA71-76AB9FE248E9}" presName="FourNodes_2" presStyleLbl="node1" presStyleIdx="1" presStyleCnt="4">
        <dgm:presLayoutVars>
          <dgm:bulletEnabled val="1"/>
        </dgm:presLayoutVars>
      </dgm:prSet>
      <dgm:spPr/>
    </dgm:pt>
    <dgm:pt modelId="{6AED60C0-B311-2E49-AAE5-2BE9FEE39739}" type="pres">
      <dgm:prSet presAssocID="{A0D177C3-29D6-4B3C-BA71-76AB9FE248E9}" presName="FourNodes_3" presStyleLbl="node1" presStyleIdx="2" presStyleCnt="4">
        <dgm:presLayoutVars>
          <dgm:bulletEnabled val="1"/>
        </dgm:presLayoutVars>
      </dgm:prSet>
      <dgm:spPr/>
    </dgm:pt>
    <dgm:pt modelId="{91DFD14F-9621-F941-AE86-1035FA60A5A6}" type="pres">
      <dgm:prSet presAssocID="{A0D177C3-29D6-4B3C-BA71-76AB9FE248E9}" presName="FourNodes_4" presStyleLbl="node1" presStyleIdx="3" presStyleCnt="4" custLinFactNeighborX="0" custLinFactNeighborY="-1165">
        <dgm:presLayoutVars>
          <dgm:bulletEnabled val="1"/>
        </dgm:presLayoutVars>
      </dgm:prSet>
      <dgm:spPr/>
    </dgm:pt>
    <dgm:pt modelId="{8ACF8631-E083-594B-AC1B-3D643903847E}" type="pres">
      <dgm:prSet presAssocID="{A0D177C3-29D6-4B3C-BA71-76AB9FE248E9}" presName="FourConn_1-2" presStyleLbl="fgAccFollowNode1" presStyleIdx="0" presStyleCnt="3">
        <dgm:presLayoutVars>
          <dgm:bulletEnabled val="1"/>
        </dgm:presLayoutVars>
      </dgm:prSet>
      <dgm:spPr/>
    </dgm:pt>
    <dgm:pt modelId="{E9CC11C2-18E5-A14F-977C-7C1E9D778D95}" type="pres">
      <dgm:prSet presAssocID="{A0D177C3-29D6-4B3C-BA71-76AB9FE248E9}" presName="FourConn_2-3" presStyleLbl="fgAccFollowNode1" presStyleIdx="1" presStyleCnt="3">
        <dgm:presLayoutVars>
          <dgm:bulletEnabled val="1"/>
        </dgm:presLayoutVars>
      </dgm:prSet>
      <dgm:spPr/>
    </dgm:pt>
    <dgm:pt modelId="{30AD93A7-E32A-634E-B437-D78C010008AC}" type="pres">
      <dgm:prSet presAssocID="{A0D177C3-29D6-4B3C-BA71-76AB9FE248E9}" presName="FourConn_3-4" presStyleLbl="fgAccFollowNode1" presStyleIdx="2" presStyleCnt="3">
        <dgm:presLayoutVars>
          <dgm:bulletEnabled val="1"/>
        </dgm:presLayoutVars>
      </dgm:prSet>
      <dgm:spPr/>
    </dgm:pt>
    <dgm:pt modelId="{1EFA3BD3-BE4F-A641-AB97-4BA2A87E9CB3}" type="pres">
      <dgm:prSet presAssocID="{A0D177C3-29D6-4B3C-BA71-76AB9FE248E9}" presName="FourNodes_1_text" presStyleLbl="node1" presStyleIdx="3" presStyleCnt="4">
        <dgm:presLayoutVars>
          <dgm:bulletEnabled val="1"/>
        </dgm:presLayoutVars>
      </dgm:prSet>
      <dgm:spPr/>
    </dgm:pt>
    <dgm:pt modelId="{604880B5-6C3B-BD47-8649-ADFB36DEDDFF}" type="pres">
      <dgm:prSet presAssocID="{A0D177C3-29D6-4B3C-BA71-76AB9FE248E9}" presName="FourNodes_2_text" presStyleLbl="node1" presStyleIdx="3" presStyleCnt="4">
        <dgm:presLayoutVars>
          <dgm:bulletEnabled val="1"/>
        </dgm:presLayoutVars>
      </dgm:prSet>
      <dgm:spPr/>
    </dgm:pt>
    <dgm:pt modelId="{A2FA42D7-169B-9646-AB32-EF1355F71119}" type="pres">
      <dgm:prSet presAssocID="{A0D177C3-29D6-4B3C-BA71-76AB9FE248E9}" presName="FourNodes_3_text" presStyleLbl="node1" presStyleIdx="3" presStyleCnt="4">
        <dgm:presLayoutVars>
          <dgm:bulletEnabled val="1"/>
        </dgm:presLayoutVars>
      </dgm:prSet>
      <dgm:spPr/>
    </dgm:pt>
    <dgm:pt modelId="{2E668801-8E08-AA49-A803-850D5318FFEF}" type="pres">
      <dgm:prSet presAssocID="{A0D177C3-29D6-4B3C-BA71-76AB9FE248E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9281107-DF18-E243-860D-7056B21FEEE2}" type="presOf" srcId="{8EF121BA-F0A3-4084-ABB0-96956C0A901C}" destId="{30AD93A7-E32A-634E-B437-D78C010008AC}" srcOrd="0" destOrd="0" presId="urn:microsoft.com/office/officeart/2005/8/layout/vProcess5"/>
    <dgm:cxn modelId="{73408719-D3A5-3041-AFB7-53629CECB5D1}" type="presOf" srcId="{B49D1FB2-329B-438B-AA61-E1FC207C239F}" destId="{D433479A-3181-084D-8179-DC0D1C9CAED3}" srcOrd="0" destOrd="0" presId="urn:microsoft.com/office/officeart/2005/8/layout/vProcess5"/>
    <dgm:cxn modelId="{58D8E01B-88C2-4027-93D1-CAEC16FC1AAB}" srcId="{A0D177C3-29D6-4B3C-BA71-76AB9FE248E9}" destId="{8451E550-97D4-4095-A4AD-A1F4B749C58A}" srcOrd="3" destOrd="0" parTransId="{76565CE9-2098-4ACA-880C-519EC14054F7}" sibTransId="{8041B208-C6EF-4B5C-BC16-7FDE288B7EEE}"/>
    <dgm:cxn modelId="{1035962D-5B65-7F40-839E-749021888431}" type="presOf" srcId="{8451E550-97D4-4095-A4AD-A1F4B749C58A}" destId="{91DFD14F-9621-F941-AE86-1035FA60A5A6}" srcOrd="0" destOrd="0" presId="urn:microsoft.com/office/officeart/2005/8/layout/vProcess5"/>
    <dgm:cxn modelId="{CCF1B232-7016-2A42-A462-D162F8FCC85F}" type="presOf" srcId="{A0D177C3-29D6-4B3C-BA71-76AB9FE248E9}" destId="{62F4C735-F666-4649-9578-F8D48ABCF9A7}" srcOrd="0" destOrd="0" presId="urn:microsoft.com/office/officeart/2005/8/layout/vProcess5"/>
    <dgm:cxn modelId="{3D495E39-DFB5-4AA7-A4A8-897734A5925C}" srcId="{A0D177C3-29D6-4B3C-BA71-76AB9FE248E9}" destId="{B49D1FB2-329B-438B-AA61-E1FC207C239F}" srcOrd="1" destOrd="0" parTransId="{552543EB-76C5-4020-975E-05644B2E826D}" sibTransId="{69BC8B54-026A-4F25-A304-4933EA3017DF}"/>
    <dgm:cxn modelId="{FCB7AC43-74CE-5140-8D55-65D9B5DE7402}" type="presOf" srcId="{8F61586D-42A0-41D4-8BF8-2E531FFBEA7D}" destId="{8ACF8631-E083-594B-AC1B-3D643903847E}" srcOrd="0" destOrd="0" presId="urn:microsoft.com/office/officeart/2005/8/layout/vProcess5"/>
    <dgm:cxn modelId="{49487252-13C1-8547-AE60-27E2D7AC64E2}" type="presOf" srcId="{AB516C0B-18DC-46E4-9E79-EAE43096EE32}" destId="{A2FA42D7-169B-9646-AB32-EF1355F71119}" srcOrd="1" destOrd="0" presId="urn:microsoft.com/office/officeart/2005/8/layout/vProcess5"/>
    <dgm:cxn modelId="{6230036E-D744-449B-B8A0-EAF206DAEDDB}" srcId="{A0D177C3-29D6-4B3C-BA71-76AB9FE248E9}" destId="{AB516C0B-18DC-46E4-9E79-EAE43096EE32}" srcOrd="2" destOrd="0" parTransId="{DC7D4365-E749-4CF5-A90D-B785FBC7EF76}" sibTransId="{8EF121BA-F0A3-4084-ABB0-96956C0A901C}"/>
    <dgm:cxn modelId="{D169A97D-4E26-F542-B489-578F3D93C8CB}" type="presOf" srcId="{AB516C0B-18DC-46E4-9E79-EAE43096EE32}" destId="{6AED60C0-B311-2E49-AAE5-2BE9FEE39739}" srcOrd="0" destOrd="0" presId="urn:microsoft.com/office/officeart/2005/8/layout/vProcess5"/>
    <dgm:cxn modelId="{5726E5A0-4F0C-0846-A86E-BFCECCE4AF64}" type="presOf" srcId="{A159359D-B940-4678-B93F-B84E67B9CC9B}" destId="{1EFA3BD3-BE4F-A641-AB97-4BA2A87E9CB3}" srcOrd="1" destOrd="0" presId="urn:microsoft.com/office/officeart/2005/8/layout/vProcess5"/>
    <dgm:cxn modelId="{CFA3FDA6-1F89-1843-A74D-AA4A1AF56EFD}" type="presOf" srcId="{69BC8B54-026A-4F25-A304-4933EA3017DF}" destId="{E9CC11C2-18E5-A14F-977C-7C1E9D778D95}" srcOrd="0" destOrd="0" presId="urn:microsoft.com/office/officeart/2005/8/layout/vProcess5"/>
    <dgm:cxn modelId="{33B612CA-FA21-8949-BE14-0A5E51899E85}" type="presOf" srcId="{B49D1FB2-329B-438B-AA61-E1FC207C239F}" destId="{604880B5-6C3B-BD47-8649-ADFB36DEDDFF}" srcOrd="1" destOrd="0" presId="urn:microsoft.com/office/officeart/2005/8/layout/vProcess5"/>
    <dgm:cxn modelId="{DF1AD2D3-9A96-4945-B1C1-2B8E44B30E2D}" srcId="{A0D177C3-29D6-4B3C-BA71-76AB9FE248E9}" destId="{A159359D-B940-4678-B93F-B84E67B9CC9B}" srcOrd="0" destOrd="0" parTransId="{0DF6743B-1DFD-486A-87B3-42FFBCD0BE87}" sibTransId="{8F61586D-42A0-41D4-8BF8-2E531FFBEA7D}"/>
    <dgm:cxn modelId="{17941EEB-8181-9941-82AD-B658720AC64D}" type="presOf" srcId="{A159359D-B940-4678-B93F-B84E67B9CC9B}" destId="{2B86C02B-0FEE-9F42-933C-516E1243E923}" srcOrd="0" destOrd="0" presId="urn:microsoft.com/office/officeart/2005/8/layout/vProcess5"/>
    <dgm:cxn modelId="{AE75B7F2-8115-3546-B47B-A0DC3205D9E4}" type="presOf" srcId="{8451E550-97D4-4095-A4AD-A1F4B749C58A}" destId="{2E668801-8E08-AA49-A803-850D5318FFEF}" srcOrd="1" destOrd="0" presId="urn:microsoft.com/office/officeart/2005/8/layout/vProcess5"/>
    <dgm:cxn modelId="{23EAB699-B552-604F-BA60-25F58D579A38}" type="presParOf" srcId="{62F4C735-F666-4649-9578-F8D48ABCF9A7}" destId="{0039A135-FFE7-3148-8AC5-4E60D379C886}" srcOrd="0" destOrd="0" presId="urn:microsoft.com/office/officeart/2005/8/layout/vProcess5"/>
    <dgm:cxn modelId="{68955FC5-B627-5B4E-9631-FEF565C8E5EA}" type="presParOf" srcId="{62F4C735-F666-4649-9578-F8D48ABCF9A7}" destId="{2B86C02B-0FEE-9F42-933C-516E1243E923}" srcOrd="1" destOrd="0" presId="urn:microsoft.com/office/officeart/2005/8/layout/vProcess5"/>
    <dgm:cxn modelId="{6576AE8F-6ABF-834F-8492-5218A42EAAAF}" type="presParOf" srcId="{62F4C735-F666-4649-9578-F8D48ABCF9A7}" destId="{D433479A-3181-084D-8179-DC0D1C9CAED3}" srcOrd="2" destOrd="0" presId="urn:microsoft.com/office/officeart/2005/8/layout/vProcess5"/>
    <dgm:cxn modelId="{16BE4C8C-06AB-ED43-878B-879123791601}" type="presParOf" srcId="{62F4C735-F666-4649-9578-F8D48ABCF9A7}" destId="{6AED60C0-B311-2E49-AAE5-2BE9FEE39739}" srcOrd="3" destOrd="0" presId="urn:microsoft.com/office/officeart/2005/8/layout/vProcess5"/>
    <dgm:cxn modelId="{49CD82BA-06F5-FE42-90A0-A0C9D0BB8CFC}" type="presParOf" srcId="{62F4C735-F666-4649-9578-F8D48ABCF9A7}" destId="{91DFD14F-9621-F941-AE86-1035FA60A5A6}" srcOrd="4" destOrd="0" presId="urn:microsoft.com/office/officeart/2005/8/layout/vProcess5"/>
    <dgm:cxn modelId="{B5028960-FD2F-1B43-AF62-3899F7004C56}" type="presParOf" srcId="{62F4C735-F666-4649-9578-F8D48ABCF9A7}" destId="{8ACF8631-E083-594B-AC1B-3D643903847E}" srcOrd="5" destOrd="0" presId="urn:microsoft.com/office/officeart/2005/8/layout/vProcess5"/>
    <dgm:cxn modelId="{A41E9AED-53E9-654C-897D-A363CAE68973}" type="presParOf" srcId="{62F4C735-F666-4649-9578-F8D48ABCF9A7}" destId="{E9CC11C2-18E5-A14F-977C-7C1E9D778D95}" srcOrd="6" destOrd="0" presId="urn:microsoft.com/office/officeart/2005/8/layout/vProcess5"/>
    <dgm:cxn modelId="{1FDBFA4F-8ED7-7C4F-8722-E8D21A1833BD}" type="presParOf" srcId="{62F4C735-F666-4649-9578-F8D48ABCF9A7}" destId="{30AD93A7-E32A-634E-B437-D78C010008AC}" srcOrd="7" destOrd="0" presId="urn:microsoft.com/office/officeart/2005/8/layout/vProcess5"/>
    <dgm:cxn modelId="{83420974-6A6D-F447-8227-F7B952114DB6}" type="presParOf" srcId="{62F4C735-F666-4649-9578-F8D48ABCF9A7}" destId="{1EFA3BD3-BE4F-A641-AB97-4BA2A87E9CB3}" srcOrd="8" destOrd="0" presId="urn:microsoft.com/office/officeart/2005/8/layout/vProcess5"/>
    <dgm:cxn modelId="{CBF8DAF6-0780-A541-A081-E8D78EDA1E21}" type="presParOf" srcId="{62F4C735-F666-4649-9578-F8D48ABCF9A7}" destId="{604880B5-6C3B-BD47-8649-ADFB36DEDDFF}" srcOrd="9" destOrd="0" presId="urn:microsoft.com/office/officeart/2005/8/layout/vProcess5"/>
    <dgm:cxn modelId="{C6B2D600-4ADD-0A48-9E64-8D143EE22053}" type="presParOf" srcId="{62F4C735-F666-4649-9578-F8D48ABCF9A7}" destId="{A2FA42D7-169B-9646-AB32-EF1355F71119}" srcOrd="10" destOrd="0" presId="urn:microsoft.com/office/officeart/2005/8/layout/vProcess5"/>
    <dgm:cxn modelId="{99843766-7300-D443-9F7B-82DE789BBF3C}" type="presParOf" srcId="{62F4C735-F666-4649-9578-F8D48ABCF9A7}" destId="{2E668801-8E08-AA49-A803-850D5318FFE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6C02B-0FEE-9F42-933C-516E1243E923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 policy implementation texts during the 14th Five-Year period exhibit measurable patterns of functional differentiation and instrument alignment?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38" y="28038"/>
        <a:ext cx="7298593" cy="901218"/>
      </dsp:txXfrm>
    </dsp:sp>
    <dsp:sp modelId="{D433479A-3181-084D-8179-DC0D1C9CAED3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 policy domains show structured specialization</a:t>
          </a:r>
          <a:r>
            <a:rPr kumimoji="1" lang="zh-CN" alt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kumimoji="1" lang="en-US" altLang="zh-C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 the text</a:t>
          </a:r>
          <a:r>
            <a:rPr kumimoji="1"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?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2583" y="1159385"/>
        <a:ext cx="7029617" cy="901218"/>
      </dsp:txXfrm>
    </dsp:sp>
    <dsp:sp modelId="{6AED60C0-B311-2E49-AAE5-2BE9FEE39739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Is there cross-domain re-embedding across administrative topics?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6612" y="2290733"/>
        <a:ext cx="7040133" cy="901218"/>
      </dsp:txXfrm>
    </dsp:sp>
    <dsp:sp modelId="{91DFD14F-9621-F941-AE86-1035FA60A5A6}">
      <dsp:nvSpPr>
        <dsp:cNvPr id="0" name=""/>
        <dsp:cNvSpPr/>
      </dsp:nvSpPr>
      <dsp:spPr>
        <a:xfrm>
          <a:off x="2103119" y="3382891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 different domains rely on distinct policy</a:t>
          </a:r>
          <a:r>
            <a:rPr kumimoji="1" lang="zh-CN" alt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kumimoji="1" lang="en-US" altLang="zh-C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express</a:t>
          </a:r>
          <a:r>
            <a:rPr kumimoji="1"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?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31157" y="3410929"/>
        <a:ext cx="7029617" cy="901218"/>
      </dsp:txXfrm>
    </dsp:sp>
    <dsp:sp modelId="{8ACF8631-E083-594B-AC1B-3D643903847E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930242" y="733200"/>
        <a:ext cx="342233" cy="468236"/>
      </dsp:txXfrm>
    </dsp:sp>
    <dsp:sp modelId="{E9CC11C2-18E5-A14F-977C-7C1E9D778D95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634787" y="1864548"/>
        <a:ext cx="342233" cy="468236"/>
      </dsp:txXfrm>
    </dsp:sp>
    <dsp:sp modelId="{30AD93A7-E32A-634E-B437-D78C010008AC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AC530-A44F-03B6-4603-51010E10A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BFDFE8-1DBB-46BC-A8AE-C96ABF0EB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05681B-0EB2-D670-6282-5BB53594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54C81-2550-455F-79FC-33E37042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5915A6-06B2-A569-CD51-CD8155A4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911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6AB8A-E094-04B6-AC1F-FB1687AF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7B47C7-5B00-2FC4-6A97-F49B71348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3F078-AF9C-37EC-AA84-55F6D983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5589D7-BB99-D34C-5B43-3CFB4C96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080F4-5368-5B44-F4C8-7C3B07C3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633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7AFBE-0682-04DB-FCA0-F66A6074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8810B2-D06A-EB65-6D0F-76BBDD92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9E05A-E539-FB58-130F-B5FD181D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9E32C8-6DDF-D82F-CC96-C1070049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53237B-29C3-C1DD-C0F5-A7C96D02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647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B518-BD2C-4701-15AA-37CAA405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F35D0-00A8-025F-33BA-D5E3485DF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E851BA-833A-663D-3560-8491F8D18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65AE02-60C9-3CCC-AA11-CFD50A0A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BF672A-ADB8-3EBE-64A7-1B064C9C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F5E2C2-486D-F4E8-B33E-3E9BC978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538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E2400-D14C-7D77-40E7-CDFB814C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7A7E49-CF11-EFDF-B0DF-CC475433F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87C5F8-F2D1-BE86-8D5D-93AF6A6A1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573EE4-4533-8029-AD39-2BA396359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ED8874-5C76-3968-67B0-E5A306EBF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49585F-810D-FCA0-2494-A4E49339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64BB72-8ACF-D9AE-3917-C72F75F9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3A6CD7-1EF6-7FA1-1B49-AEC68658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88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07FF3-7F12-82B9-EAE4-DC91576B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1C6843-C60C-FE0E-D810-279BA62D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AD28A7-3C17-398E-5C16-B2827AE6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10CACC-0594-5EF2-AA53-D16C114B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40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F0F4AF-AC64-138F-FFDC-51B1D29D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49C53C-F5E5-9771-6C8C-EF31208E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923B23-B1AA-B45A-9182-36AD0D9C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433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EC02B-2876-A823-CB5E-896DF011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5119C-9981-6939-8562-31704DDDD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CC79B5-C968-1A6D-95AF-6A12C28E4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3D94A6-8F0D-3DAB-EC7D-0BB9BEFE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AD3090-1958-3D09-E559-F385AE9E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D125AB-90F1-3DCD-ED47-94A218754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716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A8E72-1891-0321-0AE3-BC6B8CF5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749117-76B1-BE43-F48C-0AB6ABF4E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4BE0F5-018F-03FE-FD29-6AFC57DCC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0C59F4-29E6-F3B9-98CF-DF9C0398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DCA1F-2617-0148-B75E-C8458934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E3B67-450D-6B66-F6AA-302B6D20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155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6040D-9D43-72E7-22DC-C574B5D1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D4B4D5-92EE-B684-C1FC-F76034F37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07CE06-28B9-3820-AAAD-07637EB5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6B504B-8D11-62B4-0E17-689B267B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0B219-58FC-C118-4E8A-66067D87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703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E46D1A-FDCE-3737-CC92-C39AC5C2D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C5BF66-C586-AA77-43EF-A36DCFA94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E22408-9B8A-07AE-7705-3C1C7681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4AB0CD-E7CB-0C80-DDA2-A9014DF2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9D30AB-4E6F-D1D9-ED6D-C2ED3F94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061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DAA8E9-F45B-6627-92CE-F3B29EED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308283-0356-2925-EF50-E70370827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AF98F8-A427-3B05-D371-E1529537E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C9388-A17C-2A4C-8269-F1927D454AE8}" type="datetimeFigureOut">
              <a:rPr kumimoji="1" lang="zh-CN" altLang="en-US" smtClean="0"/>
              <a:t>2026/3/4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7A107-2BD7-F9C5-7E21-6800DCB7D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7593A-C2F2-F786-1CF3-FAF55FC85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6CA37-CBF4-ED4E-9FC9-9AC024C0A0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261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38EBC2-0B11-4732-8715-799409C4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9214AE-532A-6054-D4A5-BA4EA52E1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926" y="590062"/>
            <a:ext cx="6869751" cy="2838938"/>
          </a:xfrm>
        </p:spPr>
        <p:txBody>
          <a:bodyPr>
            <a:normAutofit/>
          </a:bodyPr>
          <a:lstStyle/>
          <a:p>
            <a:pPr algn="l"/>
            <a:r>
              <a:rPr lang="en" altLang="zh-CN" sz="3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Differentiation in Policy Implementation Texts: Evidence from State Council of China’s 14th Five-Year</a:t>
            </a:r>
            <a:r>
              <a:rPr lang="zh-CN" altLang="en-US" sz="3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lang="en" altLang="zh-CN" sz="3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Documents</a:t>
            </a:r>
            <a:endParaRPr kumimoji="1" lang="zh-CN" altLang="en-US" sz="3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192FFE-EAA6-17CA-7913-767620F2F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700916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Heyang Liu</a:t>
            </a:r>
          </a:p>
          <a:p>
            <a:pPr algn="l"/>
            <a:r>
              <a:rPr kumimoji="1" lang="en-US" altLang="zh-CN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</a:t>
            </a:r>
            <a:r>
              <a:rPr lang="en" altLang="zh-CN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Dali L. Yang</a:t>
            </a:r>
            <a:endParaRPr kumimoji="1" lang="en-US" altLang="zh-CN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lang="en" altLang="zh-CN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PLSC 42701 Seminar on Chinese Politics</a:t>
            </a:r>
          </a:p>
          <a:p>
            <a:pPr algn="l"/>
            <a:r>
              <a:rPr kumimoji="1" lang="en-US" altLang="zh-CN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March 3, 2026</a:t>
            </a:r>
            <a:endParaRPr kumimoji="1" lang="zh-CN" altLang="en-US" sz="17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18548E62-A3CA-82FE-0117-04A15E3C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437" y="2364538"/>
            <a:ext cx="3948572" cy="3948572"/>
          </a:xfrm>
          <a:prstGeom prst="rect">
            <a:avLst/>
          </a:prstGeom>
        </p:spPr>
      </p:pic>
      <p:sp>
        <p:nvSpPr>
          <p:cNvPr id="1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41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标&#10;&#10;AI 生成的内容可能不正确。">
            <a:extLst>
              <a:ext uri="{FF2B5EF4-FFF2-40B4-BE49-F238E27FC236}">
                <a16:creationId xmlns:a16="http://schemas.microsoft.com/office/drawing/2014/main" id="{C9834A01-9AC3-39FE-804A-59BD0EE02B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510" r="-2" b="282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8FE3C9-A797-1C35-71B4-CCEBF1E2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文本框 4">
            <a:extLst>
              <a:ext uri="{FF2B5EF4-FFF2-40B4-BE49-F238E27FC236}">
                <a16:creationId xmlns:a16="http://schemas.microsoft.com/office/drawing/2014/main" id="{1A8B2D8E-FA75-8F8F-8A31-EF7F4CA399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4935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675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CDE61-7A4E-7F8B-4CC5-4BBD40BC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Background</a:t>
            </a:r>
            <a:endParaRPr kumimoji="1" lang="zh-CN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D8D34C-27F7-33A4-5A28-6BB8292D4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1984"/>
            <a:ext cx="1595244" cy="15952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473A50F-DDF9-DC97-BA91-02E4573A7F78}"/>
              </a:ext>
            </a:extLst>
          </p:cNvPr>
          <p:cNvSpPr txBox="1"/>
          <p:nvPr/>
        </p:nvSpPr>
        <p:spPr>
          <a:xfrm>
            <a:off x="843155" y="1690688"/>
            <a:ext cx="101296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Capacity &amp; Functional Differentiation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literature discusses: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China's state capacity organized?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functions divided?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centralized vs. decentralized structures operate?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studies are more based on institutional or organizational structure analysis, but rarely use the structural patterns of policy texts to measure "functional differentiation".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7A07E4-928F-7B00-F84F-E84D0042FCB2}"/>
              </a:ext>
            </a:extLst>
          </p:cNvPr>
          <p:cNvSpPr txBox="1"/>
          <p:nvPr/>
        </p:nvSpPr>
        <p:spPr>
          <a:xfrm>
            <a:off x="838200" y="3958682"/>
            <a:ext cx="9331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Policy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papers analyze the distribution of policy themes, focusing on “what the state emphasizes”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utilize government reports for research</a:t>
            </a:r>
          </a:p>
          <a:p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DBE5C6-366F-EAFD-40DD-17EC1B660CEA}"/>
              </a:ext>
            </a:extLst>
          </p:cNvPr>
          <p:cNvSpPr txBox="1"/>
          <p:nvPr/>
        </p:nvSpPr>
        <p:spPr>
          <a:xfrm>
            <a:off x="838200" y="5252224"/>
            <a:ext cx="10129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study focuses on structural differentiation in policy texts, such as: 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differentiation of functions, differentiation of roles, differentiation of rules, and differentiation of tools.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6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16773E-C032-A978-D05C-5F2B8155B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kumimoji="1" lang="en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Design</a:t>
            </a:r>
            <a:endParaRPr kumimoji="1" lang="zh-CN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D6798F9F-F97B-8C6B-4A7F-C73F5CF0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30" y="2717674"/>
            <a:ext cx="1722691" cy="1722691"/>
          </a:xfrm>
          <a:prstGeom prst="rect">
            <a:avLst/>
          </a:prstGeom>
        </p:spPr>
      </p:pic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E89AD45E-DF10-C85D-2592-309E0254E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04" y="398733"/>
            <a:ext cx="3738710" cy="20189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44A3D1-F279-EF77-DFD8-9303CF4C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03" y="393700"/>
            <a:ext cx="6406893" cy="5769356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kumimoji="1"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</a:p>
          <a:p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documents of the State Council and its ministries (2021–2025)</a:t>
            </a:r>
          </a:p>
          <a:p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Paragraph-level text units</a:t>
            </a:r>
            <a:endParaRPr kumimoji="1"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Document-level topic tags represent administrative categories, but they do not necessarily reflect the actual distribution of governance functions.</a:t>
            </a:r>
          </a:p>
          <a:p>
            <a:pPr marL="0" indent="0">
              <a:buNone/>
            </a:pPr>
            <a:endParaRPr kumimoji="1" lang="e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0" indent="0">
              <a:buNone/>
            </a:pPr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document is categorized as "Agriculture"</a:t>
            </a:r>
          </a:p>
          <a:p>
            <a:pPr marL="0" indent="0">
              <a:buNone/>
            </a:pPr>
            <a:endParaRPr kumimoji="1" lang="e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document may contain:</a:t>
            </a:r>
          </a:p>
          <a:p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Welfare</a:t>
            </a:r>
          </a:p>
          <a:p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Protection</a:t>
            </a:r>
          </a:p>
          <a:p>
            <a:r>
              <a:rPr kumimoji="1" lang="e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Macroeconomic Regulation</a:t>
            </a:r>
          </a:p>
          <a:p>
            <a:pPr marL="0" indent="0">
              <a:buNone/>
            </a:pPr>
            <a:endParaRPr kumimoji="1" lang="e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59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9266B-D42C-9499-07A9-EF4C1537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Flow</a:t>
            </a:r>
            <a:endParaRPr kumimoji="1" lang="zh-CN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DEA74F-0430-2C25-D4AF-AEC213DEC307}"/>
              </a:ext>
            </a:extLst>
          </p:cNvPr>
          <p:cNvSpPr txBox="1"/>
          <p:nvPr/>
        </p:nvSpPr>
        <p:spPr>
          <a:xfrm>
            <a:off x="838200" y="1690688"/>
            <a:ext cx="2087880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crawler to extract documents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9B03996-978E-2618-E5F8-CBF64DD2FA70}"/>
              </a:ext>
            </a:extLst>
          </p:cNvPr>
          <p:cNvCxnSpPr>
            <a:stCxn id="4" idx="3"/>
          </p:cNvCxnSpPr>
          <p:nvPr/>
        </p:nvCxnSpPr>
        <p:spPr>
          <a:xfrm flipV="1">
            <a:off x="2926080" y="2013853"/>
            <a:ext cx="8440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F67A723-19DA-66A1-A4DC-8897EAF355EB}"/>
              </a:ext>
            </a:extLst>
          </p:cNvPr>
          <p:cNvSpPr txBox="1"/>
          <p:nvPr/>
        </p:nvSpPr>
        <p:spPr>
          <a:xfrm>
            <a:off x="3770142" y="1707321"/>
            <a:ext cx="2377440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(paragraph level)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1B5409-4CAD-9DF8-24D3-4A60A2122A2F}"/>
              </a:ext>
            </a:extLst>
          </p:cNvPr>
          <p:cNvSpPr txBox="1"/>
          <p:nvPr/>
        </p:nvSpPr>
        <p:spPr>
          <a:xfrm>
            <a:off x="6991644" y="1712451"/>
            <a:ext cx="2672861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test for natural topic differentiation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B76C1D2-51A6-F045-6E6B-F9B9C81B417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147582" y="2030487"/>
            <a:ext cx="844062" cy="5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A69083F-970C-85C9-30A5-258C77398520}"/>
              </a:ext>
            </a:extLst>
          </p:cNvPr>
          <p:cNvSpPr txBox="1"/>
          <p:nvPr/>
        </p:nvSpPr>
        <p:spPr>
          <a:xfrm>
            <a:off x="7061982" y="3868615"/>
            <a:ext cx="2560319" cy="64711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five major governance fields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214BBCD-E999-DDD4-40AC-BF85F0C6E606}"/>
              </a:ext>
            </a:extLst>
          </p:cNvPr>
          <p:cNvCxnSpPr>
            <a:stCxn id="8" idx="2"/>
          </p:cNvCxnSpPr>
          <p:nvPr/>
        </p:nvCxnSpPr>
        <p:spPr>
          <a:xfrm>
            <a:off x="8328075" y="2358782"/>
            <a:ext cx="14067" cy="1509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F2EC5FC-80A8-3611-733E-789781B20FD2}"/>
              </a:ext>
            </a:extLst>
          </p:cNvPr>
          <p:cNvSpPr txBox="1"/>
          <p:nvPr/>
        </p:nvSpPr>
        <p:spPr>
          <a:xfrm>
            <a:off x="3770142" y="3868615"/>
            <a:ext cx="2377440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Samples</a:t>
            </a:r>
          </a:p>
          <a:p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742ABFF-6404-22A8-8A89-D11911B5D024}"/>
              </a:ext>
            </a:extLst>
          </p:cNvPr>
          <p:cNvCxnSpPr>
            <a:stCxn id="12" idx="1"/>
            <a:endCxn id="15" idx="3"/>
          </p:cNvCxnSpPr>
          <p:nvPr/>
        </p:nvCxnSpPr>
        <p:spPr>
          <a:xfrm flipH="1" flipV="1">
            <a:off x="6147582" y="4191781"/>
            <a:ext cx="914400" cy="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6A98ECF-9741-E8DD-806C-7E118BB78DD7}"/>
              </a:ext>
            </a:extLst>
          </p:cNvPr>
          <p:cNvSpPr txBox="1"/>
          <p:nvPr/>
        </p:nvSpPr>
        <p:spPr>
          <a:xfrm>
            <a:off x="838199" y="3868615"/>
            <a:ext cx="2214489" cy="6463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(comparative model)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BCEEC7A-F764-7767-2591-A5B8C08B0873}"/>
              </a:ext>
            </a:extLst>
          </p:cNvPr>
          <p:cNvCxnSpPr>
            <a:stCxn id="15" idx="1"/>
            <a:endCxn id="18" idx="3"/>
          </p:cNvCxnSpPr>
          <p:nvPr/>
        </p:nvCxnSpPr>
        <p:spPr>
          <a:xfrm flipH="1">
            <a:off x="3052688" y="4191781"/>
            <a:ext cx="7174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FDBF11B-9C77-2314-4788-66323F961579}"/>
              </a:ext>
            </a:extLst>
          </p:cNvPr>
          <p:cNvSpPr txBox="1"/>
          <p:nvPr/>
        </p:nvSpPr>
        <p:spPr>
          <a:xfrm>
            <a:off x="838199" y="5064369"/>
            <a:ext cx="660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chapters will explain in detail.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01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77B704-130D-1D93-A74C-CDC2AC2A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Test</a:t>
            </a:r>
            <a:endParaRPr kumimoji="1" lang="zh-CN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2EC776-7A53-E0C2-BD8C-5CA4AF8E86DE}"/>
              </a:ext>
            </a:extLst>
          </p:cNvPr>
          <p:cNvSpPr txBox="1"/>
          <p:nvPr/>
        </p:nvSpPr>
        <p:spPr>
          <a:xfrm>
            <a:off x="838200" y="1294051"/>
            <a:ext cx="92342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research hypothesizes that paragraphs can represent different policy concerns.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LDA is to answer the question: Do paragraphs naturally form multiple clusters in the semantic space?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topics obtained by LDA are very disorganized, it indicates that the paragraph level is not suitable for semantic differentiation.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0FA7A5-9D54-160C-6EA1-9C8598F2A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19" y="3048377"/>
            <a:ext cx="4773539" cy="34444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B582C3-3EFC-6F97-0D15-B8ED84A2D92C}"/>
              </a:ext>
            </a:extLst>
          </p:cNvPr>
          <p:cNvSpPr txBox="1"/>
          <p:nvPr/>
        </p:nvSpPr>
        <p:spPr>
          <a:xfrm>
            <a:off x="956603" y="4405311"/>
            <a:ext cx="386861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proves that the text itself naturally differentiates into several governance areas.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BFF62C3B-8E68-B9A9-ACDF-EBA333192331}"/>
              </a:ext>
            </a:extLst>
          </p:cNvPr>
          <p:cNvSpPr/>
          <p:nvPr/>
        </p:nvSpPr>
        <p:spPr>
          <a:xfrm>
            <a:off x="4951827" y="4770626"/>
            <a:ext cx="1270782" cy="192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561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27D59-9E4E-A5E7-A3F9-73303060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major governance fields</a:t>
            </a:r>
            <a:endParaRPr kumimoji="1" lang="zh-CN" altLang="en-US" sz="35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E7B6BA-5A02-20C2-3779-F0524A49F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068"/>
            <a:ext cx="10515600" cy="2352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Objectives Structure (Based on the 14th Five-Year Plan)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1" lang="e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Innovation and Modern Industrial System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zh-CN" altLang="en" sz="1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创新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与现代产业体系）</a:t>
            </a:r>
            <a:endParaRPr kumimoji="1" lang="en" altLang="zh-CN" sz="1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Macroeconomics and Resource Allocation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（宏观经济与资源配置）</a:t>
            </a:r>
            <a:endParaRPr kumimoji="1" lang="en" altLang="zh-CN" sz="1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Green Development and Ecological Civilization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（绿色发展与生态文明）</a:t>
            </a:r>
            <a:endParaRPr kumimoji="1" lang="en" altLang="zh-CN" sz="1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Social Welfare and Social Development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（民生与社会发展）</a:t>
            </a:r>
            <a:endParaRPr kumimoji="1" lang="en" altLang="zh-CN" sz="1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Public Safety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（公共安全）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D1BBB3-4191-3F2A-5886-FC24DEEB2404}"/>
              </a:ext>
            </a:extLst>
          </p:cNvPr>
          <p:cNvSpPr txBox="1"/>
          <p:nvPr/>
        </p:nvSpPr>
        <p:spPr>
          <a:xfrm>
            <a:off x="838200" y="4079631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focuses on the State Council's implementation documents for 2021–2025.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14th Five-Year Plan serves as the overarching framework for all policy formulation during this period.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research document was generated within this structural framework.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adopting its full chapter structure, five core governance functions are abstracted that correspond to development capacity, macro-regulation, sustainability constraints, social reproduction, and risk governance.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07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498D7-D12A-2B9B-79C5-BA36C44A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3"/>
          </a:xfrm>
        </p:spPr>
        <p:txBody>
          <a:bodyPr>
            <a:normAutofit fontScale="90000"/>
          </a:bodyPr>
          <a:lstStyle/>
          <a:p>
            <a:br>
              <a:rPr kumimoji="1" lang="en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(comparative model)</a:t>
            </a:r>
            <a:b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4F8E36-695C-7EA7-4707-4003CCA7C1B9}"/>
              </a:ext>
            </a:extLst>
          </p:cNvPr>
          <p:cNvSpPr txBox="1"/>
          <p:nvPr/>
        </p:nvSpPr>
        <p:spPr>
          <a:xfrm>
            <a:off x="838199" y="1153551"/>
            <a:ext cx="9177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multi-class classification model was trained using manual annotation, and then the model was used to predict the governance objectives of 130,000 paragraphs.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345791-32A8-CF02-0B90-0D5EF428F13A}"/>
              </a:ext>
            </a:extLst>
          </p:cNvPr>
          <p:cNvSpPr txBox="1"/>
          <p:nvPr/>
        </p:nvSpPr>
        <p:spPr>
          <a:xfrm>
            <a:off x="402101" y="1918798"/>
            <a:ext cx="59986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input includes two types of features: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Text Features: Semantic Generalization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Capturing paragraph semantic structure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Structural Features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doc_type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topic_lvl1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topic_lvl2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dominant_topic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Capturing institutional and policy classification information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66D215B-36C1-A17B-942B-029FD28BE56B}"/>
              </a:ext>
            </a:extLst>
          </p:cNvPr>
          <p:cNvCxnSpPr>
            <a:cxnSpLocks/>
          </p:cNvCxnSpPr>
          <p:nvPr/>
        </p:nvCxnSpPr>
        <p:spPr>
          <a:xfrm>
            <a:off x="6921305" y="2152357"/>
            <a:ext cx="0" cy="3727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49EF92E1-C4B0-FEFE-9721-214939039A80}"/>
              </a:ext>
            </a:extLst>
          </p:cNvPr>
          <p:cNvCxnSpPr/>
          <p:nvPr/>
        </p:nvCxnSpPr>
        <p:spPr>
          <a:xfrm>
            <a:off x="534572" y="1799882"/>
            <a:ext cx="11071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8D1AAA5-94D6-2B75-5034-502192F16D56}"/>
              </a:ext>
            </a:extLst>
          </p:cNvPr>
          <p:cNvSpPr txBox="1"/>
          <p:nvPr/>
        </p:nvSpPr>
        <p:spPr>
          <a:xfrm>
            <a:off x="7201487" y="2059475"/>
            <a:ext cx="479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glmnet multinomial (with L1 regularization)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820970F-AC1D-584D-EE03-5B345C8D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134" y="3074245"/>
            <a:ext cx="2514600" cy="2197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2675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484A8-D1A5-4922-AE77-599175D24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  <a:r>
              <a:rPr kumimoji="1" lang="zh-C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C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Structure</a:t>
            </a:r>
            <a:endParaRPr kumimoji="1" lang="zh-CN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ED7336A-F1B9-BFD9-8CBB-65C0FC57D8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0D5C351-8AB2-0AA1-B820-E796D973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3030"/>
            <a:ext cx="4361586" cy="2980158"/>
          </a:xfrm>
          <a:prstGeom prst="rect">
            <a:avLst/>
          </a:prstGeom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1D764E0-D9F3-C9B3-EDF5-44998404EE88}"/>
              </a:ext>
            </a:extLst>
          </p:cNvPr>
          <p:cNvSpPr txBox="1"/>
          <p:nvPr/>
        </p:nvSpPr>
        <p:spPr>
          <a:xfrm>
            <a:off x="6310231" y="1423030"/>
            <a:ext cx="54137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2021 to 2025, the policy texts of the State Council's executive level exhibited a stable functional field structure; 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was primarily driven by "policy themes/governance tasks," rather than by document type.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CA08DD5-A758-A1CC-A1F4-86A88C75E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92222"/>
            <a:ext cx="6045200" cy="1943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508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B27F4-96EC-3E30-9F9D-9763ED3F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differentiation at the organizational level</a:t>
            </a:r>
            <a:endParaRPr kumimoji="1" lang="zh-CN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A1CDB6-2E22-0C06-A2E7-BD935AC37D58}"/>
              </a:ext>
            </a:extLst>
          </p:cNvPr>
          <p:cNvSpPr txBox="1"/>
          <p:nvPr/>
        </p:nvSpPr>
        <p:spPr>
          <a:xfrm>
            <a:off x="6836897" y="1420837"/>
            <a:ext cx="50372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governance objectives in executive-level texts can create identifiable "functional positions" at the organizational level.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 itself is a trace of the organizational functional division of labor.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small diagram represents the field attention structure of a single institution.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institutions exhibit a single peak or a strong dominant peak → clear functional division.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institutions exhibit multiple peaks → may involve cross-field governance</a:t>
            </a:r>
          </a:p>
          <a:p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 descr="图片包含 日程表&#10;&#10;AI 生成的内容可能不正确。">
            <a:extLst>
              <a:ext uri="{FF2B5EF4-FFF2-40B4-BE49-F238E27FC236}">
                <a16:creationId xmlns:a16="http://schemas.microsoft.com/office/drawing/2014/main" id="{76E7066E-B45B-1B00-4829-77311366D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470691" cy="373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3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EC832-9E20-A3E6-EA43-1A09813C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existence of "re-embedding" domain</a:t>
            </a:r>
            <a:endParaRPr kumimoji="1" lang="zh-CN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F5F9625E-4025-3584-B504-5C4BAE64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25" y="1314115"/>
            <a:ext cx="6304905" cy="4307977"/>
          </a:xfrm>
          <a:prstGeom prst="rect">
            <a:avLst/>
          </a:prstGeom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7DC2C3D-7189-41E7-8BE9-931A8B0576BC}"/>
              </a:ext>
            </a:extLst>
          </p:cNvPr>
          <p:cNvSpPr txBox="1"/>
          <p:nvPr/>
        </p:nvSpPr>
        <p:spPr>
          <a:xfrm>
            <a:off x="6654018" y="1487914"/>
            <a:ext cx="53316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re_embedding_index = 1 - top_share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top_share → The topic is almost monopolized by a single domain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low re-embedding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top_share → The topic is distributed across multiple domains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high re-embedding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resources, industry, and transportation: these are not only development/industry, but also involve security, ecology, and macro-level allocation.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not "specialized areas" with a single policy objective, but rather "connector" in the governance system—connecting multiple objectives such as growth, people's livelihood, security, ecology, and governance order.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868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4617F-5677-A9F9-31D9-E7B8E7FD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778" y="336989"/>
            <a:ext cx="4690403" cy="633681"/>
          </a:xfrm>
          <a:ln>
            <a:noFill/>
          </a:ln>
        </p:spPr>
        <p:txBody>
          <a:bodyPr>
            <a:normAutofit/>
          </a:bodyPr>
          <a:lstStyle/>
          <a:p>
            <a:r>
              <a:rPr kumimoji="1" lang="en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intensity difference</a:t>
            </a:r>
            <a:endParaRPr kumimoji="1" lang="zh-CN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6ABC07AE-93A7-5520-C635-E5D8285E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78" y="970670"/>
            <a:ext cx="4797157" cy="3277772"/>
          </a:xfrm>
          <a:prstGeom prst="rect">
            <a:avLst/>
          </a:prstGeom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D19BA8-F1C1-93AB-27BF-0C8F805299D1}"/>
              </a:ext>
            </a:extLst>
          </p:cNvPr>
          <p:cNvSpPr txBox="1"/>
          <p:nvPr/>
        </p:nvSpPr>
        <p:spPr>
          <a:xfrm>
            <a:off x="5515708" y="289679"/>
            <a:ext cx="613351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Social Welfare and Social Development: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blue line has consistently been above the red line.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means: Policies related to people's livelihoods have longer paragraphs and more comprehensive policy expression.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Policies concerning people's livelihoods involve specific groups.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Innovation and the Modern Industrial System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proportion consistently higher than paragraph proportion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Innovation-related policy texts also tend to be longer.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3.Green Development: 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years, the blue line is higher than the red line.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Green policies are described in some detail, but not as clearly as those related to social welfare and innovation.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Macroeconomic and Resource Allocation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years, the blue line is below the red line.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There are many paragraphs on macroeconomic policies, but the average length is shorter.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Explanation: Indicator Setting, Principle Requirements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CDA68B-C238-135E-948E-C7155352680E}"/>
              </a:ext>
            </a:extLst>
          </p:cNvPr>
          <p:cNvSpPr txBox="1"/>
          <p:nvPr/>
        </p:nvSpPr>
        <p:spPr>
          <a:xfrm>
            <a:off x="196948" y="4670474"/>
            <a:ext cx="5142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Public Safety: The blue line has consistently been below the red line.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Safety policies tend to be short, imperative, and contain explicit clauses.</a:t>
            </a:r>
          </a:p>
          <a:p>
            <a:r>
              <a:rPr kumimoji="1"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Logic: Imperative expressions and clear division of responsibilities eliminate the need for lengthy explanations.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895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46F20-5604-FBAC-05DE-AF0F4DB3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33468" cy="746223"/>
          </a:xfrm>
        </p:spPr>
        <p:txBody>
          <a:bodyPr>
            <a:normAutofit/>
          </a:bodyPr>
          <a:lstStyle/>
          <a:p>
            <a:r>
              <a:rPr kumimoji="1"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Shortcoming</a:t>
            </a:r>
            <a:endParaRPr kumimoji="1" lang="zh-CN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01D26F-B365-AE2E-901B-25DDC6A62AE7}"/>
              </a:ext>
            </a:extLst>
          </p:cNvPr>
          <p:cNvSpPr txBox="1"/>
          <p:nvPr/>
        </p:nvSpPr>
        <p:spPr>
          <a:xfrm>
            <a:off x="942535" y="1336431"/>
            <a:ext cx="95238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functional space is derived from the 14th Five-Year Plan, which provides institutional legitimacy but may constrain alternative clustering structures emerging from the data itself.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may compare institutionally derived categories with fully unsupervised topic models to test robustness.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analysis focuses on policy discourse at the implementation level rather than observable administrative outputs, which may not fully capture actual resource allocation or enforcement behavior.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classification performance is relatively strong, misclassification may introduce measurement noise, especially across semantically adjacent domains.</a:t>
            </a:r>
          </a:p>
          <a:p>
            <a:endParaRPr kumimoji="1"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temporal scope is confined to the 14th Five-Year period; longitudinal extension to earlier planning cycles would help assess structural persistence.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93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F0EEB-4046-E4E0-5AC3-83AD8B0F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69" y="2250196"/>
            <a:ext cx="10515600" cy="1325563"/>
          </a:xfrm>
        </p:spPr>
        <p:txBody>
          <a:bodyPr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020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1208</Words>
  <Application>Microsoft Macintosh PowerPoint</Application>
  <PresentationFormat>宽屏</PresentationFormat>
  <Paragraphs>132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SimSun</vt:lpstr>
      <vt:lpstr>Arial</vt:lpstr>
      <vt:lpstr>Times New Roman</vt:lpstr>
      <vt:lpstr>Office 主题​​</vt:lpstr>
      <vt:lpstr>Functional Differentiation in Policy Implementation Texts: Evidence from State Council of China’s 14th Five-Year Plan Documents</vt:lpstr>
      <vt:lpstr>Research Question</vt:lpstr>
      <vt:lpstr>Literature Background</vt:lpstr>
      <vt:lpstr>Research Design</vt:lpstr>
      <vt:lpstr>Data Processing Flow</vt:lpstr>
      <vt:lpstr>LDA Test</vt:lpstr>
      <vt:lpstr>Five major governance fields</vt:lpstr>
      <vt:lpstr> Supervised learning (comparative model) </vt:lpstr>
      <vt:lpstr>Key Finding - Functional Structure</vt:lpstr>
      <vt:lpstr>Structural differentiation at the organizational level</vt:lpstr>
      <vt:lpstr>The existence of "re-embedding" domain</vt:lpstr>
      <vt:lpstr>Text intensity difference</vt:lpstr>
      <vt:lpstr>Shortcoming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Heyang Liu</dc:creator>
  <cp:lastModifiedBy>Heyang Liu</cp:lastModifiedBy>
  <cp:revision>11</cp:revision>
  <dcterms:created xsi:type="dcterms:W3CDTF">2026-03-02T04:13:16Z</dcterms:created>
  <dcterms:modified xsi:type="dcterms:W3CDTF">2026-03-04T23:33:00Z</dcterms:modified>
</cp:coreProperties>
</file>